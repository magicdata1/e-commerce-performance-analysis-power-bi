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61" r:id="rId5"/>
    <p:sldId id="2562" r:id="rId6"/>
    <p:sldId id="2563" r:id="rId7"/>
    <p:sldId id="2564" r:id="rId8"/>
    <p:sldId id="2565" r:id="rId9"/>
    <p:sldId id="2566" r:id="rId10"/>
    <p:sldId id="2567" r:id="rId11"/>
    <p:sldId id="2568" r:id="rId12"/>
    <p:sldId id="2569" r:id="rId13"/>
    <p:sldId id="2570" r:id="rId14"/>
    <p:sldId id="2571" r:id="rId15"/>
    <p:sldId id="2572" r:id="rId16"/>
    <p:sldId id="2578" r:id="rId17"/>
    <p:sldId id="2573" r:id="rId18"/>
    <p:sldId id="2574" r:id="rId19"/>
    <p:sldId id="2576" r:id="rId20"/>
    <p:sldId id="25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-Commerce Performance Analysis (Storytelling Version)" id="{82139492-E000-44BA-939E-4E98066D398F}">
          <p14:sldIdLst>
            <p14:sldId id="2561"/>
          </p14:sldIdLst>
        </p14:section>
        <p14:section name="Introduction and Executive Summary" id="{2C85A8C6-198F-45AD-B353-D50BF246428F}">
          <p14:sldIdLst>
            <p14:sldId id="2562"/>
            <p14:sldId id="2563"/>
            <p14:sldId id="2564"/>
          </p14:sldIdLst>
        </p14:section>
        <p14:section name="Data Context and Methodology" id="{5B5FFFD0-624D-4B9E-9557-E1D97DE51742}">
          <p14:sldIdLst>
            <p14:sldId id="2565"/>
            <p14:sldId id="2566"/>
            <p14:sldId id="2567"/>
          </p14:sldIdLst>
        </p14:section>
        <p14:section name="Performance Analysis and Insights" id="{962416CD-53CC-49C2-9BB7-7AA571DAFEAE}">
          <p14:sldIdLst>
            <p14:sldId id="2568"/>
            <p14:sldId id="2569"/>
            <p14:sldId id="2570"/>
            <p14:sldId id="2571"/>
            <p14:sldId id="2572"/>
            <p14:sldId id="2578"/>
          </p14:sldIdLst>
        </p14:section>
        <p14:section name="Recommendations and Next Steps" id="{D8872910-534D-4055-956C-A0DB6581EEE5}">
          <p14:sldIdLst>
            <p14:sldId id="2573"/>
            <p14:sldId id="2574"/>
          </p14:sldIdLst>
        </p14:section>
        <p14:section name="Appendix" id="{184CCD87-3D6A-46D9-B7A9-060B106E700E}">
          <p14:sldIdLst>
            <p14:sldId id="2576"/>
            <p14:sldId id="25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A1112-E9F4-479C-ACC4-7F7814417417}" v="20" dt="2025-12-13T22:17:12.952"/>
    <p1510:client id="{B662FDBE-4955-4440-AF9F-CBCC8B03CA9B}" v="27" dt="2025-12-13T22:22:25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799" autoAdjust="0"/>
  </p:normalViewPr>
  <p:slideViewPr>
    <p:cSldViewPr>
      <p:cViewPr varScale="1">
        <p:scale>
          <a:sx n="100" d="100"/>
          <a:sy n="100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E94E1-6D2E-4C56-AEEF-D39644D4EB8D}" type="datetimeFigureOut"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8BFC3-2D95-4A22-A303-1F5D6E4917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10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27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6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97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09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8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25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07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08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08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6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3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51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78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30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9983A-83F6-4432-A11A-AF5878C87182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44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7300" y="-429"/>
            <a:ext cx="7142987" cy="6858429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067300" y="4571999"/>
            <a:ext cx="7140054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F2F4EA-388B-424B-AC17-965C10DAF675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08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CF9F-8FDB-4ADC-A9FD-4B179047B36A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4AF38C-0923-462D-8E8F-DFB1FB3CD655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73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531B838-A2A1-4E5F-8CE5-ED5C785421C8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4355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B369E90C-83BE-474F-8867-84D9D4BA9A64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0157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B5CA67-94ED-4C14-9B73-CCE5A85B4E93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10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23C116-3055-4F7F-9A49-EB260F9EF6F6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1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A5EF91-D53E-428D-B2CB-7C1F753E44DB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02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772400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4EA7F42-44CA-4E2D-BE54-54E50F1A95AA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F6D2C8-34B4-4D49-8BA1-BACB1E5E91D7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11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FA98E2-6F7F-4A51-8E1F-EB59A50F0269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0BB71E-4F8F-41C0-A92F-F3C4EFE8AC7B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23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3436-5FD3-4DBA-BA14-7BB2834C5EC5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3D6C-C357-4A18-98FF-C5DAE1A10B46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8E0B-8A0C-48E4-ADBA-2AC6A8CE7CBF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CCA7-F1A7-4374-A53E-DDBF6669B4DA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4E53C8-4441-4494-9A33-9A60A8C010FF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857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27853E-A83C-4AE4-BB8D-D1C2F70D8524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91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DAA-674F-41A5-9B7A-63B7C6B4BF31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5508136-2BE5-4DEB-BFFF-CA82AE75DA81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907A-57F4-4BE4-B9CF-66B2A48FC3D2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5247320" cy="64003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8C0C47F-6992-403B-A8BD-DAD08522434F}" type="datetime2">
              <a:rPr lang="en-US" smtClean="0"/>
              <a:t>Thursday, December 25, 2025</a:t>
            </a:fld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93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922008" y="6400799"/>
            <a:ext cx="5269988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544068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28336-AE7A-4C2D-0270-493DC7303B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544068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22008" y="-1"/>
            <a:ext cx="5269992" cy="64003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75CBF-C3DD-595A-4D09-0BDBE3A2010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EE2BF70-051F-4182-B873-1FBEE890188B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4C584-842E-9FEF-D13D-CAA866F0BF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0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B29163A-D4FD-4B13-B760-29FEA46D26A0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F31E3F0-C597-454C-9C6A-C05C00896517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21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4C03E46-357C-41AA-B644-5D238512659D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33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7317806-C1A4-4898-A392-58092F2DAC1E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EBE550A-BFEE-40D6-A0EE-F4BD2148E98A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166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F60DE63-5C97-4D17-AD5B-559BE78F8C6E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09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945630" y="6401228"/>
            <a:ext cx="5246366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1CEA-5D85-42AB-95DF-BF2F02172CA4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51AB-126F-4C4D-9C0D-9B9B07DC1CFA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578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B0D61-5867-4B60-96C2-F34431D24F0C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4365B4-2BDD-42A8-8AD0-4FD66D3F5C4E}" type="datetime2">
              <a:rPr lang="en-US" smtClean="0"/>
              <a:t>Thursday, December 25,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87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042AE0-E8A0-4C07-BDCE-3F5EAB477031}" type="datetime2">
              <a:rPr lang="en-US" smtClean="0"/>
              <a:t>Thursday, December 25,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34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8D1234-C791-4FA0-B7BF-3B97E1AFD349}" type="datetime2">
              <a:rPr lang="en-US" smtClean="0"/>
              <a:t>Thursday, December 25,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799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9FD6B-A98A-41CE-AE80-E9BFC922155F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323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A27B-DA16-4786-8944-4B1CF34905EE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459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A190-1DE0-42AE-81F7-BAE9BB470D89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282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0A192-F923-4AB4-BDCC-6ACB26A0AAAE}" type="datetime2">
              <a:rPr lang="en-US" smtClean="0"/>
              <a:t>Thursday, December 25, 2025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647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769460-8E62-40CA-83A8-CB830C3D7F18}" type="datetime2">
              <a:rPr lang="en-US" smtClean="0"/>
              <a:t>Thursday, December 25, 2025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7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9BF413-3F81-4C14-A195-E47B863670C3}" type="datetime2">
              <a:rPr lang="en-US" smtClean="0"/>
              <a:t>Thursday, December 25, 2025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058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CE8AB-DD53-DE37-0172-0F4C2D9FEBD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020824"/>
            <a:ext cx="5075237" cy="411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467A339-2191-25DF-DA14-F9F1C27E8EB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0813" y="2020824"/>
            <a:ext cx="5075237" cy="411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486C-F518-4593-A9F9-71F14C909BBB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D0ED8F7-2A3F-80A9-EF90-A2A4073C69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020888"/>
            <a:ext cx="507365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D723F4E-0022-57BD-B68A-67BA6188174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0813" y="2020888"/>
            <a:ext cx="507523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DDA2C-4D95-4DB6-BF4A-4F688D05F62F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4565-505C-457E-BFE9-7CA5ED3C51C4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EFDC-6A75-4D73-91E7-2ECC26E96D93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2"/>
            <a:ext cx="3309608" cy="38245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58207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072B-0F30-4743-AD00-90BD7F92FC91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FF1A8-4BF9-4B7D-9A44-0F91B76D49BD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7636FB-A6BA-4E3C-9023-5FBFE4689724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FE3FE3-B74C-4213-AB2F-60F99F3419C3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39174FB3-ACF6-4A9B-9D1F-91EEB8A6966E}" type="datetime2">
              <a:rPr lang="en-US" smtClean="0"/>
              <a:t>Thursday, December 25,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662" r:id="rId2"/>
    <p:sldLayoutId id="2147483788" r:id="rId3"/>
    <p:sldLayoutId id="2147483792" r:id="rId4"/>
    <p:sldLayoutId id="2147483785" r:id="rId5"/>
    <p:sldLayoutId id="2147483781" r:id="rId6"/>
    <p:sldLayoutId id="2147483783" r:id="rId7"/>
    <p:sldLayoutId id="2147483784" r:id="rId8"/>
    <p:sldLayoutId id="2147483729" r:id="rId9"/>
    <p:sldLayoutId id="2147483810" r:id="rId10"/>
    <p:sldLayoutId id="2147483716" r:id="rId11"/>
    <p:sldLayoutId id="2147483841" r:id="rId12"/>
    <p:sldLayoutId id="2147483679" r:id="rId13"/>
    <p:sldLayoutId id="2147483680" r:id="rId14"/>
    <p:sldLayoutId id="2147483681" r:id="rId15"/>
    <p:sldLayoutId id="2147483778" r:id="rId16"/>
    <p:sldLayoutId id="2147483797" r:id="rId17"/>
    <p:sldLayoutId id="2147483794" r:id="rId18"/>
    <p:sldLayoutId id="2147483690" r:id="rId19"/>
    <p:sldLayoutId id="2147483707" r:id="rId20"/>
    <p:sldLayoutId id="2147483708" r:id="rId21"/>
    <p:sldLayoutId id="2147483848" r:id="rId22"/>
    <p:sldLayoutId id="2147483849" r:id="rId23"/>
    <p:sldLayoutId id="2147483694" r:id="rId24"/>
    <p:sldLayoutId id="2147483803" r:id="rId25"/>
    <p:sldLayoutId id="2147483824" r:id="rId26"/>
    <p:sldLayoutId id="2147483770" r:id="rId27"/>
    <p:sldLayoutId id="2147483801" r:id="rId28"/>
    <p:sldLayoutId id="2147483808" r:id="rId29"/>
    <p:sldLayoutId id="2147483672" r:id="rId30"/>
    <p:sldLayoutId id="2147483804" r:id="rId31"/>
    <p:sldLayoutId id="2147483696" r:id="rId32"/>
    <p:sldLayoutId id="2147483845" r:id="rId33"/>
    <p:sldLayoutId id="2147483846" r:id="rId34"/>
    <p:sldLayoutId id="2147483847" r:id="rId35"/>
    <p:sldLayoutId id="2147483826" r:id="rId36"/>
    <p:sldLayoutId id="2147483775" r:id="rId37"/>
    <p:sldLayoutId id="2147483823" r:id="rId38"/>
    <p:sldLayoutId id="2147483842" r:id="rId39"/>
    <p:sldLayoutId id="2147483843" r:id="rId40"/>
    <p:sldLayoutId id="2147483844" r:id="rId41"/>
    <p:sldLayoutId id="2147483664" r:id="rId42"/>
    <p:sldLayoutId id="2147483665" r:id="rId43"/>
    <p:sldLayoutId id="2147483666" r:id="rId44"/>
    <p:sldLayoutId id="2147483667" r:id="rId45"/>
    <p:sldLayoutId id="2147483668" r:id="rId46"/>
    <p:sldLayoutId id="2147483669" r:id="rId47"/>
    <p:sldLayoutId id="2147483685" r:id="rId48"/>
    <p:sldLayoutId id="2147483730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ED078-6B58-7EEE-D3E6-20C06CFA9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0" y="1600200"/>
            <a:ext cx="7644384" cy="2944368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E-Commerce Performance Analysis </a:t>
            </a:r>
          </a:p>
        </p:txBody>
      </p:sp>
    </p:spTree>
    <p:extLst>
      <p:ext uri="{BB962C8B-B14F-4D97-AF65-F5344CB8AC3E}">
        <p14:creationId xmlns:p14="http://schemas.microsoft.com/office/powerpoint/2010/main" val="40282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B9A9-C04C-B256-8405-EAB57C393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and 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3923312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164B-24F4-6F4A-EC23-7142B8D1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B4985-EE8C-688E-8283-19773CF7730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31520" y="1380744"/>
            <a:ext cx="6858000" cy="46085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Dataset Scope and Contents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dataset covers Q4 2023 to October 2025 with detailed transactional fields including sales and payment data.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Analysis Dimensions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Focus areas include sales KPIs, regional performance, product impact, customer trends, and payment preferences.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Goals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Identify growth opportunities,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optimise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pricing, enhance profitability, and maintain customer satisfaction.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project flows from business problems to data insights and ends with strategic recommendations.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http://teekid.com/istockphoto/banner/banner3.jpg">
            <a:extLst>
              <a:ext uri="{FF2B5EF4-FFF2-40B4-BE49-F238E27FC236}">
                <a16:creationId xmlns:a16="http://schemas.microsoft.com/office/drawing/2014/main" id="{C3D9945D-A46E-4586-B932-C69B7D99CB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9685" r="11016" b="-3"/>
          <a:stretch>
            <a:fillRect/>
          </a:stretch>
        </p:blipFill>
        <p:spPr>
          <a:xfrm>
            <a:off x="8491126" y="603504"/>
            <a:ext cx="3085177" cy="5202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24545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669B-6CFE-AF2B-A8B1-7BEE8DCB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</p:txBody>
      </p:sp>
      <p:pic>
        <p:nvPicPr>
          <p:cNvPr id="5" name="Content Placeholder 4" descr="Credit Score">
            <a:extLst>
              <a:ext uri="{FF2B5EF4-FFF2-40B4-BE49-F238E27FC236}">
                <a16:creationId xmlns:a16="http://schemas.microsoft.com/office/drawing/2014/main" id="{1B5F66D7-63FE-455D-8E93-47EB47BB90A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244" r="4828" b="-3"/>
          <a:stretch>
            <a:fillRect/>
          </a:stretch>
        </p:blipFill>
        <p:spPr>
          <a:xfrm>
            <a:off x="603503" y="603504"/>
            <a:ext cx="3192563" cy="5202936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8ECFB-0241-88FC-1B5D-FCC90E4BDE1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718304" y="1380744"/>
            <a:ext cx="6858000" cy="46085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Financial Performance Overview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Total revenue reached ₹533.67M with a profit margin of approximately 14.9%, highlighting solid e-commerce growth.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Regional Revenue Leadership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North region leads in revenue and profit,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showing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potential to replicate successful strategies in other regions.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Discount Strategy Impact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High discount tiers of 20% negatively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affect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margins, suggesting capping discounts at 10% to improve profitability.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Payment Method Insights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Net Banking users show the highest average order value, while COD is declining,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favouring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digital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payment incentives.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960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C5E7-017A-A620-08B9-ED74E3E27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Context and Methodology</a:t>
            </a:r>
          </a:p>
        </p:txBody>
      </p:sp>
    </p:spTree>
    <p:extLst>
      <p:ext uri="{BB962C8B-B14F-4D97-AF65-F5344CB8AC3E}">
        <p14:creationId xmlns:p14="http://schemas.microsoft.com/office/powerpoint/2010/main" val="15596867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73EBE-8192-A201-AD32-6FAB3ECB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Coverage and Limitations</a:t>
            </a:r>
          </a:p>
        </p:txBody>
      </p:sp>
      <p:pic>
        <p:nvPicPr>
          <p:cNvPr id="5" name="Content Placeholder 4" descr="Compressed Data concept with alphabet words with blocks">
            <a:extLst>
              <a:ext uri="{FF2B5EF4-FFF2-40B4-BE49-F238E27FC236}">
                <a16:creationId xmlns:a16="http://schemas.microsoft.com/office/drawing/2014/main" id="{75110006-F1ED-4358-AEE7-56BB5107E1E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9784" r="15810" b="3"/>
          <a:stretch>
            <a:fillRect/>
          </a:stretch>
        </p:blipFill>
        <p:spPr>
          <a:xfrm>
            <a:off x="731518" y="10"/>
            <a:ext cx="3520440" cy="3648446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D3823-37E8-22FF-E927-71DDF3F85385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48072" y="704088"/>
            <a:ext cx="6428232" cy="523036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Uneven Time Coverage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Dataset covers Q4 2023, full 2024, and partial 2025, limiting full-year comparisons.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Recommended Comparisons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 year-to-date or quarterly comparisons for reliable trend analysis and growth interpretation.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Diverse Data Categories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Includes Books, Electronics, Furniture, Clothing, Sports, and multiple payment modes for detailed analysis.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Validation Needs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Normalisation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and validation are essential for consistency and accuracy in multidimensional analysis.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9869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AD66-5B6F-1CC6-1AB6-D6471BBA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Methodology and Key Measures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F4894-4DF5-88A3-5A76-B150F6712953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31520" y="1380744"/>
            <a:ext cx="6858000" cy="4608576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Structured Data Methodology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analysis followed structured steps including data import, quality checks, and validation to ensure accuracy.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Created calculated columns like Year, Quarter, Profit Margin, and Average Order Value to enhance insights.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Standardization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Consistent formatting was applied to categorical fields such as Region, Category, and Payment Mode.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DAX Measures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Important DAX calculations include Total Revenue, Total Profit, Number of Orders, AOV, and Profit Margin percentage.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5G and AI technology, Global communication network concept.">
            <a:extLst>
              <a:ext uri="{FF2B5EF4-FFF2-40B4-BE49-F238E27FC236}">
                <a16:creationId xmlns:a16="http://schemas.microsoft.com/office/drawing/2014/main" id="{5110E33D-AAB7-4050-B963-F36B0C48D72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4763" r="41882" b="-1"/>
          <a:stretch>
            <a:fillRect/>
          </a:stretch>
        </p:blipFill>
        <p:spPr>
          <a:xfrm>
            <a:off x="8491126" y="603504"/>
            <a:ext cx="3085177" cy="5202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34946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50BA-D793-FA8E-E61F-CE330C80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Performance Analysis and Insights</a:t>
            </a:r>
          </a:p>
        </p:txBody>
      </p:sp>
    </p:spTree>
    <p:extLst>
      <p:ext uri="{BB962C8B-B14F-4D97-AF65-F5344CB8AC3E}">
        <p14:creationId xmlns:p14="http://schemas.microsoft.com/office/powerpoint/2010/main" val="42301584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AC3A-7C68-7F60-ABF9-1EC452B8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Sales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C7816-8D22-AF0F-7E77-841BF0FB7FA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11896" y="2852928"/>
            <a:ext cx="3273552" cy="29535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Regional Sales Leadership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North region leads sales with ₹127.10M revenue and ₹18.87M profit, outpacing other regions.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Top City Contributors</a:t>
            </a:r>
          </a:p>
          <a:p>
            <a:pPr marL="0" lvl="1">
              <a:lnSpc>
                <a:spcPct val="11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Top cities like Guwahati, Bengaluru (Bangalore), Jaipur, Amritsar, and Lucknow significantly boost overall revenue.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Growth Strategy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Replicating the North region's successful strategies in East and West can maximize growth potential.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0CA02F-316A-FFA6-3A9B-DE8BAB3B5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907793"/>
            <a:ext cx="3219899" cy="3400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38F582-22ED-45F5-B011-43FEBC6CA7FC}"/>
              </a:ext>
            </a:extLst>
          </p:cNvPr>
          <p:cNvSpPr txBox="1"/>
          <p:nvPr/>
        </p:nvSpPr>
        <p:spPr>
          <a:xfrm>
            <a:off x="5410200" y="4114240"/>
            <a:ext cx="18208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(North ₹127.10M revenue, ₹18.87M profit)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FACAFC-3673-2B45-714E-E5CB0EC1E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75665"/>
            <a:ext cx="7802064" cy="266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772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CEC9-B202-A277-EE89-43E19B0C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347516"/>
            <a:ext cx="6858000" cy="92354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Product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B53EA-E8E2-920A-0F1C-06C2F07F427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80999" y="654205"/>
            <a:ext cx="6857999" cy="3962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Top Performing Sub-Categories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Sofa, Lamp, and Tennis Racket sub-categories lead with sales between ₹12M and ₹15M,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showing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strong market demand.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High Profit Margin Products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Products like Dumbbells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Doloribus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, Microwave Nihil, and Smartwatch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Accusantium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have profit margins around 25%, highlighting profitability focus areas.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Discount Impact on Sales</a:t>
            </a:r>
          </a:p>
          <a:p>
            <a:pPr marL="0" lvl="1" indent="0">
              <a:buNone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Increasing discount levels lead to declining sales and profits, with zero discounts delivering the best financial performance.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Cap at 10% produce ₹9.25M profit  in (2024).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Strategic Recommendation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Focus on limiting high discounts and promoting high-margin products to enhance overall profitability and sustainable growth.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07BAC8-9066-A4E8-E44C-35890DD56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14" y="4607080"/>
            <a:ext cx="6343967" cy="18195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D33BE2-2F24-04E7-872F-296F72D13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013" y="3048000"/>
            <a:ext cx="4411251" cy="2819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88B7DB-F05A-3950-C20C-D74594173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364" y="237082"/>
            <a:ext cx="4707252" cy="238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128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E370-B05D-E67C-6A60-CA354CED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304800"/>
            <a:ext cx="6858000" cy="92354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Behaviour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CB433-3C4F-1B13-A350-31E2798A955E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28600" y="762000"/>
            <a:ext cx="6858000" cy="388620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Top Customers by Revenue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Aaryahi Madan leads with sales above ₹0.5M, followed by Kimaya Vala and Bodal Rao, highlighting key revenue contributors.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Average Order Value Trends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AOV peaked around ₹0.8M in 2024 but declined in 2025, indicating changes in basket composition or discount strategies.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Seasonal Sales Patterns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Sales in Q1 and Q2 consistently outperform Q3 and Q4, suggesting strong early-year demand and seasonal buying behavior.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Strategic Actions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Investigate causes for AOV decline and use seasonal sales peaks for targeted promotions in Q1 and Q2.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D552EB-373B-F5E0-0DD1-D81F526A0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99" y="304800"/>
            <a:ext cx="4212735" cy="28022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22D594-AE8B-8674-5D12-DC036B5A6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492277"/>
            <a:ext cx="4212735" cy="25036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EF40B3-D6F6-A56D-604C-A8B83C657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4343400"/>
            <a:ext cx="53340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112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9371-6821-64E8-ACDA-66EC891E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Payment Mode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EC890-752C-BF8D-8294-A6D8ABBC68AA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31520" y="1380744"/>
            <a:ext cx="6858000" cy="46085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Payment Method Usage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Net Banking accounts for 20.89% of transactions and shows a strong upward trend in usage, especially in Q4.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Profit by Payment Mode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Net Banking generates the highest profit of approximately ₹17 million compared to other payment modes.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Order Value Impact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Net Banking also leads in average order value (~₹37 million),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showing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larger basket sizes compared to others.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Changing Payment Preferences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Cash on Delivery usage is declining, while digital payments like Net Banking rise sharply, with UPI and cards steady.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Fintech electronic banking network technology">
            <a:extLst>
              <a:ext uri="{FF2B5EF4-FFF2-40B4-BE49-F238E27FC236}">
                <a16:creationId xmlns:a16="http://schemas.microsoft.com/office/drawing/2014/main" id="{90F74DF0-31BD-4D5D-876A-7A987BA7244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8127" r="17400" b="-1"/>
          <a:stretch>
            <a:fillRect/>
          </a:stretch>
        </p:blipFill>
        <p:spPr>
          <a:xfrm>
            <a:off x="8491126" y="603504"/>
            <a:ext cx="3085177" cy="5202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1594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D4C23F-1322-1B29-696A-02ADC1090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0"/>
            <a:ext cx="5221266" cy="3124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0D2209-FFD9-5D8E-AE26-82B266689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200"/>
            <a:ext cx="5219601" cy="342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B45385-6480-6F75-59E2-4EA799CBB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" y="3429000"/>
            <a:ext cx="5820587" cy="2791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3107B1-0800-6596-F6DD-7C025FB6A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627" y="3657600"/>
            <a:ext cx="5896798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96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3E74-737F-7AA6-0E2E-592FF3C2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/>
          <a:p>
            <a:r>
              <a:rPr lang="en-US" sz="51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42128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9450-003E-E9FC-FE40-017ABA9B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Strategic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pic>
        <p:nvPicPr>
          <p:cNvPr id="5" name="Content Placeholder 4" descr="Business Word Highlighted With Red Marker.">
            <a:extLst>
              <a:ext uri="{FF2B5EF4-FFF2-40B4-BE49-F238E27FC236}">
                <a16:creationId xmlns:a16="http://schemas.microsoft.com/office/drawing/2014/main" id="{342FB4C3-91AF-4ACE-A671-6307A78D14F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tretch/>
        </p:blipFill>
        <p:spPr>
          <a:xfrm>
            <a:off x="731518" y="649281"/>
            <a:ext cx="3520440" cy="2349893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A5498-6462-FCC8-D316-47480BAF2638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48072" y="704088"/>
            <a:ext cx="6428232" cy="523036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Regional Promotion Strategy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Focus marketing efforts by doubling down on the Northern region and replicating strategies in the East and West.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Product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Priorities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Emphas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ise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high-margin products like Dumbbells Doloribus and Microwave Nihil in marketing campaigns.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Optimised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Discounting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Avoid broad 20% discounts; implement smaller 5-10% discount tiers with uplift analysis to </a:t>
            </a:r>
            <a:r>
              <a:rPr lang="en-GB" noProof="1">
                <a:latin typeface="Arial" panose="020B0604020202020204" pitchFamily="34" charset="0"/>
                <a:cs typeface="Arial" panose="020B0604020202020204" pitchFamily="34" charset="0"/>
              </a:rPr>
              <a:t>maximi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 impact.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Customer Loyalty and Payments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Develop loyalty programs for top customers and encourage digital payments to increase average order value and reduce costs.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5115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71BF-7BFD-4B74-87C4-C83AD428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058336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CCCB-85C5-D63F-F826-B103D0FE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113" y="2971800"/>
            <a:ext cx="2692396" cy="2048256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Calculated Columns and DAX Formulas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100FA-2B81-162E-FB7A-EFDE338EC5B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48072" y="704088"/>
            <a:ext cx="6428232" cy="523036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Date Calculations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Using YEAR, FORMAT, and QUARTER functions extracts time periods from order dates for trend analysis.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Profit Margin Calculation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Profit Margin is calculated by dividing Profit by Sales to measure profitability efficiently.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Order Value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Average Order Value is computed by dividing Sales by Quantity, indicating sales efficiency.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Discount Amount Calculation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Discount Amount is derived by applying the discount percentage to sales using division for accuracy.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11B2E5-FBE6-11C7-C1DC-FD78628D2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"/>
            <a:ext cx="1676400" cy="584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277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04CAC9-4DB9-48D9-8A6F-3675D14127D6}">
  <ds:schemaRefs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  <ds:schemaRef ds:uri="16c05727-aa75-4e4a-9b5f-8a80a1165891"/>
    <ds:schemaRef ds:uri="http://schemas.microsoft.com/office/2006/documentManagement/types"/>
    <ds:schemaRef ds:uri="71af3243-3dd4-4a8d-8c0d-dd76da1f02a5"/>
    <ds:schemaRef ds:uri="http://schemas.microsoft.com/sharepoint/v3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D279CDD-1FB7-427E-9208-ECF0EB941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753F6F-88D8-493D-A089-0923419088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GradientRise</Template>
  <TotalTime>165</TotalTime>
  <Words>913</Words>
  <Application>Microsoft Office PowerPoint</Application>
  <PresentationFormat>Widescreen</PresentationFormat>
  <Paragraphs>116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Avenir Next LT Pro</vt:lpstr>
      <vt:lpstr>Avenir Next LT Pro Light</vt:lpstr>
      <vt:lpstr>Calibri</vt:lpstr>
      <vt:lpstr>Neue Haas Grotesk Text Pro</vt:lpstr>
      <vt:lpstr>GradientRise</vt:lpstr>
      <vt:lpstr>E-Commerce Performance Analysis </vt:lpstr>
      <vt:lpstr>Introduction and Executive Summary</vt:lpstr>
      <vt:lpstr>Project Overview</vt:lpstr>
      <vt:lpstr>Executive Summary</vt:lpstr>
      <vt:lpstr>Data Context and Methodology</vt:lpstr>
      <vt:lpstr>Data Coverage and Limitations</vt:lpstr>
      <vt:lpstr>Methodology and Key Measures</vt:lpstr>
      <vt:lpstr>Performance Analysis and Insights</vt:lpstr>
      <vt:lpstr>Sales Performance</vt:lpstr>
      <vt:lpstr>Product Analysis</vt:lpstr>
      <vt:lpstr>Customer Behaviour</vt:lpstr>
      <vt:lpstr>Payment Mode Analysis</vt:lpstr>
      <vt:lpstr>PowerPoint Presentation</vt:lpstr>
      <vt:lpstr>Recommendations</vt:lpstr>
      <vt:lpstr>Strategic Recommendations</vt:lpstr>
      <vt:lpstr>Appendix</vt:lpstr>
      <vt:lpstr>Calculated Columns and DAX Formulas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STU163285@ardenuniversity.ac.uk</dc:creator>
  <cp:lastModifiedBy>Smaragdi Albu (STU163285)</cp:lastModifiedBy>
  <cp:revision>45</cp:revision>
  <dcterms:created xsi:type="dcterms:W3CDTF">2025-08-21T17:09:02Z</dcterms:created>
  <dcterms:modified xsi:type="dcterms:W3CDTF">2025-12-25T14:23:25Z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